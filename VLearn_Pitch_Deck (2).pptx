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p:sp>
        <p:nvSpPr>
          <p:cNvPr id="2" name="TextBox 1"/>
          <p:cNvSpPr txBox="1"/>
          <p:nvPr/>
        </p:nvSpPr>
        <p:spPr>
          <a:xfrm>
            <a:off x="914400" y="1645920"/>
            <a:ext cx="2342515" cy="768350"/>
          </a:xfrm>
          <a:prstGeom prst="rect">
            <a:avLst/>
          </a:prstGeom>
          <a:noFill/>
        </p:spPr>
        <p:txBody>
          <a:bodyPr wrap="none">
            <a:spAutoFit/>
          </a:bodyPr>
          <a:lstStyle/>
          <a:p>
            <a:pPr>
              <a:defRPr sz="4400" b="1">
                <a:solidFill>
                  <a:srgbClr val="FFFFFF"/>
                </a:solidFill>
                <a:latin typeface="Segoe UI" panose="020B0502040204020203"/>
              </a:defRPr>
            </a:pPr>
            <a:r>
              <a:rPr lang="en-US"/>
              <a:t>| </a:t>
            </a:r>
            <a:r>
              <a:t>VLearn</a:t>
            </a:r>
          </a:p>
        </p:txBody>
      </p:sp>
      <p:sp>
        <p:nvSpPr>
          <p:cNvPr id="3" name="TextBox 2"/>
          <p:cNvSpPr txBox="1"/>
          <p:nvPr/>
        </p:nvSpPr>
        <p:spPr>
          <a:xfrm>
            <a:off x="914400" y="2743200"/>
            <a:ext cx="10332720" cy="1371600"/>
          </a:xfrm>
          <a:prstGeom prst="rect">
            <a:avLst/>
          </a:prstGeom>
          <a:noFill/>
        </p:spPr>
        <p:txBody>
          <a:bodyPr wrap="square">
            <a:spAutoFit/>
          </a:bodyPr>
          <a:lstStyle/>
          <a:p>
            <a:pPr>
              <a:defRPr sz="2200" b="1">
                <a:solidFill>
                  <a:srgbClr val="BAE6FD"/>
                </a:solidFill>
                <a:latin typeface="Segoe UI" panose="020B0502040204020203"/>
              </a:defRPr>
            </a:pPr>
            <a:r>
              <a:t>NỀN TẢNG HỌC TỪ LỖI SAI (FAILFIRST) &amp; AI TUTOR CHẨN ĐOÁN THÔNG MINH</a:t>
            </a:r>
          </a:p>
          <a:p>
            <a:pPr>
              <a:spcBef>
                <a:spcPts val="1200"/>
              </a:spcBef>
              <a:defRPr sz="1400">
                <a:solidFill>
                  <a:srgbClr val="E2E8F0"/>
                </a:solidFill>
                <a:latin typeface="Segoe UI" panose="020B0502040204020203"/>
              </a:defRPr>
            </a:pPr>
            <a:r>
              <a:t>Chuyển dịch trải nghiệm từ Học thụ động sang Chẩn đoán chủ động và Khai phá tri thức cùng AI.</a:t>
            </a:r>
          </a:p>
        </p:txBody>
      </p:sp>
      <p:sp>
        <p:nvSpPr>
          <p:cNvPr id="4" name="Rounded Rectangle 3"/>
          <p:cNvSpPr/>
          <p:nvPr/>
        </p:nvSpPr>
        <p:spPr>
          <a:xfrm>
            <a:off x="914400" y="4937760"/>
            <a:ext cx="10360152" cy="914400"/>
          </a:xfrm>
          <a:prstGeom prst="roundRect">
            <a:avLst/>
          </a:prstGeom>
          <a:solidFill>
            <a:srgbClr val="1E40AF"/>
          </a:solidFill>
          <a:ln>
            <a:solidFill>
              <a:srgbClr val="60A5F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DỰ ÁN HACKATHON K4 PHASE 1 · HỆ THỐNG VLEARN FAILFIRST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DC2626"/>
                </a:solidFill>
                <a:latin typeface="Segoe UI" panose="020B0502040204020203"/>
              </a:defRPr>
            </a:pPr>
            <a:r>
              <a:t>THỰC TRẠNG &amp; NỖI ĐAU NGƯỜI HỌC</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latin typeface="Segoe UI" panose="020B0502040204020203"/>
              </a:defRPr>
            </a:pPr>
            <a:r>
              <a:t>1. VẤN NẠN HỌC THỤ ĐỘNG &amp; ẢO TƯỞNG NẮM VỮNG KIẾN THỨC</a:t>
            </a:r>
          </a:p>
        </p:txBody>
      </p:sp>
      <p:sp>
        <p:nvSpPr>
          <p:cNvPr id="4" name="Rounded Rectangle 3"/>
          <p:cNvSpPr/>
          <p:nvPr/>
        </p:nvSpPr>
        <p:spPr>
          <a:xfrm>
            <a:off x="731520" y="1645920"/>
            <a:ext cx="32918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600" b="1">
                <a:solidFill>
                  <a:srgbClr val="1E3A8A"/>
                </a:solidFill>
                <a:latin typeface="Segoe UI" panose="020B0502040204020203"/>
              </a:defRPr>
            </a:pPr>
            <a:r>
              <a:t>Đọc Lướt &amp; </a:t>
            </a:r>
          </a:p>
          <a:p>
            <a:pPr algn="ctr">
              <a:defRPr sz="1600" b="1">
                <a:solidFill>
                  <a:srgbClr val="1E3A8A"/>
                </a:solidFill>
                <a:latin typeface="Segoe UI" panose="020B0502040204020203"/>
              </a:defRPr>
            </a:pPr>
            <a:r>
              <a:t>Xem Video Thụ Động</a:t>
            </a:r>
          </a:p>
          <a:p>
            <a:pPr>
              <a:spcBef>
                <a:spcPts val="1400"/>
              </a:spcBef>
              <a:defRPr sz="1300">
                <a:solidFill>
                  <a:srgbClr val="475569"/>
                </a:solidFill>
                <a:latin typeface="Segoe UI" panose="020B0502040204020203"/>
              </a:defRPr>
            </a:pPr>
            <a:r>
              <a:t>Hơn 90% kiến thức bị trôi đi sau 24 giờ nếu người học chỉ đọc bài giảng hoặc xem video mà không có tương tác tư duy chủ động.</a:t>
            </a:r>
          </a:p>
        </p:txBody>
      </p:sp>
      <p:sp>
        <p:nvSpPr>
          <p:cNvPr id="5" name="Rounded Rectangle 4"/>
          <p:cNvSpPr/>
          <p:nvPr/>
        </p:nvSpPr>
        <p:spPr>
          <a:xfrm>
            <a:off x="4297680" y="1645920"/>
            <a:ext cx="32918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600" b="1">
                <a:solidFill>
                  <a:srgbClr val="1E3A8A"/>
                </a:solidFill>
                <a:latin typeface="Segoe UI" panose="020B0502040204020203"/>
              </a:defRPr>
            </a:pPr>
            <a:r>
              <a:t>Ảo Tưởng Nắm Vững (Illusion)</a:t>
            </a:r>
          </a:p>
          <a:p>
            <a:pPr>
              <a:spcBef>
                <a:spcPts val="1400"/>
              </a:spcBef>
              <a:defRPr sz="1300">
                <a:solidFill>
                  <a:srgbClr val="475569"/>
                </a:solidFill>
                <a:latin typeface="Segoe UI" panose="020B0502040204020203"/>
              </a:defRPr>
            </a:pPr>
            <a:r>
              <a:t>Người học cảm thấy 'hiểu bài' khi đọc qua chữ, nhưng thực tế khi áp dụng làm bài tập thực chiến thì phát sinh vô số giả định sai mà không tự biết.</a:t>
            </a:r>
          </a:p>
        </p:txBody>
      </p:sp>
      <p:sp>
        <p:nvSpPr>
          <p:cNvPr id="6" name="Rounded Rectangle 5"/>
          <p:cNvSpPr/>
          <p:nvPr/>
        </p:nvSpPr>
        <p:spPr>
          <a:xfrm>
            <a:off x="7863840" y="1645920"/>
            <a:ext cx="32918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600" b="1">
                <a:solidFill>
                  <a:srgbClr val="1E3A8A"/>
                </a:solidFill>
                <a:latin typeface="Segoe UI" panose="020B0502040204020203"/>
              </a:defRPr>
            </a:pPr>
            <a:r>
              <a:t>Thiếu Chẩn Đoán </a:t>
            </a:r>
          </a:p>
          <a:p>
            <a:pPr algn="ctr">
              <a:defRPr sz="1600" b="1">
                <a:solidFill>
                  <a:srgbClr val="1E3A8A"/>
                </a:solidFill>
                <a:latin typeface="Segoe UI" panose="020B0502040204020203"/>
              </a:defRPr>
            </a:pPr>
            <a:r>
              <a:t>Tự Động</a:t>
            </a:r>
          </a:p>
          <a:p>
            <a:pPr>
              <a:spcBef>
                <a:spcPts val="1400"/>
              </a:spcBef>
              <a:defRPr sz="1300">
                <a:solidFill>
                  <a:srgbClr val="475569"/>
                </a:solidFill>
                <a:latin typeface="Segoe UI" panose="020B0502040204020203"/>
              </a:defRPr>
            </a:pPr>
            <a:r>
              <a:t>LMS truyền thống không thể chỉ ra đúng giả định sai (Misconception) của từng học viên để hướng dẫn sửa lại ngay tại thời điểm vấp ngã.</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DC2626"/>
                </a:solidFill>
                <a:latin typeface="Segoe UI" panose="020B0502040204020203"/>
              </a:defRPr>
            </a:pPr>
            <a:r>
              <a:t>MÔ HÌNH ĐỔI MỚI GIẢNG DẠY</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latin typeface="Segoe UI" panose="020B0502040204020203"/>
              </a:defRPr>
            </a:pPr>
            <a:r>
              <a:t>2. GIẢI PHÁP VLEARN: PHƯƠNG PHÁP HỌC FAILFIRST (PRODUCTIVE FAILURE)</a:t>
            </a:r>
          </a:p>
        </p:txBody>
      </p:sp>
      <p:sp>
        <p:nvSpPr>
          <p:cNvPr id="4" name="Rounded Rectangle 3"/>
          <p:cNvSpPr/>
          <p:nvPr/>
        </p:nvSpPr>
        <p:spPr>
          <a:xfrm>
            <a:off x="731520" y="1645920"/>
            <a:ext cx="10725912" cy="123444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1E3A8A"/>
                </a:solidFill>
                <a:latin typeface="Segoe UI" panose="020B0502040204020203"/>
              </a:defRPr>
            </a:pPr>
            <a:r>
              <a:t>1. Tự Thử &amp;</a:t>
            </a:r>
            <a:r>
              <a:rPr lang="en-US"/>
              <a:t> Sai</a:t>
            </a:r>
            <a:r>
              <a:t> Trước</a:t>
            </a:r>
          </a:p>
          <a:p>
            <a:pPr>
              <a:spcBef>
                <a:spcPts val="400"/>
              </a:spcBef>
              <a:defRPr sz="1300">
                <a:solidFill>
                  <a:srgbClr val="0F172A"/>
                </a:solidFill>
                <a:latin typeface="Segoe UI" panose="020B0502040204020203"/>
              </a:defRPr>
            </a:pPr>
            <a:r>
              <a:t>Người học bắt buộc phải tự suy đoán và đưa ra lý do cá nhân trước khi được xem nội dung bài đọc.</a:t>
            </a:r>
          </a:p>
        </p:txBody>
      </p:sp>
      <p:sp>
        <p:nvSpPr>
          <p:cNvPr id="5" name="Rounded Rectangle 4"/>
          <p:cNvSpPr/>
          <p:nvPr/>
        </p:nvSpPr>
        <p:spPr>
          <a:xfrm>
            <a:off x="731520" y="3108960"/>
            <a:ext cx="10725912" cy="123444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1E3A8A"/>
                </a:solidFill>
                <a:latin typeface="Segoe UI" panose="020B0502040204020203"/>
              </a:defRPr>
            </a:pPr>
            <a:r>
              <a:t>2. AI Tutor </a:t>
            </a:r>
          </a:p>
          <a:p>
            <a:pPr>
              <a:spcBef>
                <a:spcPts val="400"/>
              </a:spcBef>
              <a:defRPr sz="1300">
                <a:solidFill>
                  <a:srgbClr val="0F172A"/>
                </a:solidFill>
                <a:latin typeface="Segoe UI" panose="020B0502040204020203"/>
              </a:defRPr>
            </a:pPr>
            <a:r>
              <a:t>Hệ thống AI tự động phân loại chính xác mã giả định sai (M1..M5) và đưa ra gợi ý giải thích đa tầng.</a:t>
            </a:r>
          </a:p>
        </p:txBody>
      </p:sp>
      <p:sp>
        <p:nvSpPr>
          <p:cNvPr id="6" name="Rounded Rectangle 5"/>
          <p:cNvSpPr/>
          <p:nvPr/>
        </p:nvSpPr>
        <p:spPr>
          <a:xfrm>
            <a:off x="731520" y="4572000"/>
            <a:ext cx="10725912" cy="123444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1E3A8A"/>
                </a:solidFill>
                <a:latin typeface="Segoe UI" panose="020B0502040204020203"/>
              </a:defRPr>
            </a:pPr>
            <a:r>
              <a:t>3. Mở Khóa Bài Đọc Đối Chiếu</a:t>
            </a:r>
          </a:p>
          <a:p>
            <a:pPr>
              <a:spcBef>
                <a:spcPts val="400"/>
              </a:spcBef>
              <a:defRPr sz="1300">
                <a:solidFill>
                  <a:srgbClr val="0F172A"/>
                </a:solidFill>
                <a:latin typeface="Segoe UI" panose="020B0502040204020203"/>
              </a:defRPr>
            </a:pPr>
            <a:r>
              <a:t>Chỉ sau khi học viên tự sửa lại đúng bản chất, bài đọc đối chiếu nguồn [Txx-NNN] mới được mở mờ.</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DC2626"/>
                </a:solidFill>
                <a:latin typeface="Segoe UI" panose="020B0502040204020203"/>
              </a:defRPr>
            </a:pPr>
            <a:r>
              <a:t>LUỒNG TƯƠNG TÁC HỌC VIÊN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latin typeface="Segoe UI" panose="020B0502040204020203"/>
              </a:defRPr>
            </a:pPr>
            <a:r>
              <a:t>3. QUY TRÌNH CHẨN ĐOÁN ĐA TẦNG CỦA AI TUTOR</a:t>
            </a:r>
          </a:p>
        </p:txBody>
      </p:sp>
      <p:sp>
        <p:nvSpPr>
          <p:cNvPr id="4" name="Rounded Rectangle 3"/>
          <p:cNvSpPr/>
          <p:nvPr/>
        </p:nvSpPr>
        <p:spPr>
          <a:xfrm>
            <a:off x="731520" y="1645920"/>
            <a:ext cx="246888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defRPr sz="1500" b="1">
                <a:solidFill>
                  <a:srgbClr val="1E3A8A"/>
                </a:solidFill>
                <a:latin typeface="Segoe UI" panose="020B0502040204020203"/>
              </a:defRPr>
            </a:pPr>
            <a:r>
              <a:t>Bước 1: </a:t>
            </a:r>
          </a:p>
          <a:p>
            <a:pPr algn="ctr">
              <a:defRPr sz="1500" b="1">
                <a:solidFill>
                  <a:srgbClr val="1E3A8A"/>
                </a:solidFill>
                <a:latin typeface="Segoe UI" panose="020B0502040204020203"/>
              </a:defRPr>
            </a:pPr>
            <a:r>
              <a:t>Làm bài</a:t>
            </a:r>
          </a:p>
          <a:p>
            <a:pPr>
              <a:spcBef>
                <a:spcPts val="1200"/>
              </a:spcBef>
              <a:defRPr sz="1200">
                <a:solidFill>
                  <a:srgbClr val="475569"/>
                </a:solidFill>
                <a:latin typeface="Segoe UI" panose="020B0502040204020203"/>
              </a:defRPr>
            </a:pPr>
            <a:r>
              <a:t>Nhập suy đoán &amp; lý do (Hỗ trợ cả Chữ và Số).</a:t>
            </a:r>
          </a:p>
        </p:txBody>
      </p:sp>
      <p:sp>
        <p:nvSpPr>
          <p:cNvPr id="5" name="Rounded Rectangle 4"/>
          <p:cNvSpPr/>
          <p:nvPr/>
        </p:nvSpPr>
        <p:spPr>
          <a:xfrm>
            <a:off x="3474720" y="1645920"/>
            <a:ext cx="246888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defRPr sz="1500" b="1">
                <a:solidFill>
                  <a:srgbClr val="1E3A8A"/>
                </a:solidFill>
                <a:latin typeface="Segoe UI" panose="020B0502040204020203"/>
              </a:defRPr>
            </a:pPr>
            <a:r>
              <a:t>Bước 2: </a:t>
            </a:r>
          </a:p>
          <a:p>
            <a:pPr algn="ctr">
              <a:defRPr sz="1500" b="1">
                <a:solidFill>
                  <a:srgbClr val="1E3A8A"/>
                </a:solidFill>
                <a:latin typeface="Segoe UI" panose="020B0502040204020203"/>
              </a:defRPr>
            </a:pPr>
            <a:r>
              <a:t>AI Chẩn đoán</a:t>
            </a:r>
          </a:p>
          <a:p>
            <a:pPr>
              <a:spcBef>
                <a:spcPts val="1200"/>
              </a:spcBef>
              <a:defRPr sz="1200">
                <a:solidFill>
                  <a:srgbClr val="475569"/>
                </a:solidFill>
                <a:latin typeface="Segoe UI" panose="020B0502040204020203"/>
              </a:defRPr>
            </a:pPr>
            <a:r>
              <a:t>AI trả nhãn lỗi M1..M5 &amp; Gợi ý định hướng Tier 1.</a:t>
            </a:r>
          </a:p>
        </p:txBody>
      </p:sp>
      <p:sp>
        <p:nvSpPr>
          <p:cNvPr id="6" name="Rounded Rectangle 5"/>
          <p:cNvSpPr/>
          <p:nvPr/>
        </p:nvSpPr>
        <p:spPr>
          <a:xfrm>
            <a:off x="6217920" y="1645920"/>
            <a:ext cx="246888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defRPr sz="1500" b="1">
                <a:solidFill>
                  <a:srgbClr val="1E3A8A"/>
                </a:solidFill>
                <a:latin typeface="Segoe UI" panose="020B0502040204020203"/>
              </a:defRPr>
            </a:pPr>
            <a:r>
              <a:t>Bước 3: </a:t>
            </a:r>
          </a:p>
          <a:p>
            <a:pPr algn="ctr">
              <a:defRPr sz="1500" b="1">
                <a:solidFill>
                  <a:srgbClr val="1E3A8A"/>
                </a:solidFill>
                <a:latin typeface="Segoe UI" panose="020B0502040204020203"/>
              </a:defRPr>
            </a:pPr>
            <a:r>
              <a:t>Tương tác</a:t>
            </a:r>
          </a:p>
          <a:p>
            <a:pPr>
              <a:spcBef>
                <a:spcPts val="1200"/>
              </a:spcBef>
              <a:defRPr sz="1200">
                <a:solidFill>
                  <a:srgbClr val="475569"/>
                </a:solidFill>
                <a:latin typeface="Segoe UI" panose="020B0502040204020203"/>
              </a:defRPr>
            </a:pPr>
            <a:r>
              <a:t>Chọn 'Tôi đã hiểu' HOẶC 'Giải thích thêm (Tier 2)'.</a:t>
            </a:r>
          </a:p>
        </p:txBody>
      </p:sp>
      <p:sp>
        <p:nvSpPr>
          <p:cNvPr id="7" name="Rounded Rectangle 6"/>
          <p:cNvSpPr/>
          <p:nvPr/>
        </p:nvSpPr>
        <p:spPr>
          <a:xfrm>
            <a:off x="8961120" y="1645920"/>
            <a:ext cx="2468880" cy="438912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defRPr sz="1500" b="1">
                <a:solidFill>
                  <a:srgbClr val="1E3A8A"/>
                </a:solidFill>
                <a:latin typeface="Segoe UI" panose="020B0502040204020203"/>
              </a:defRPr>
            </a:pPr>
            <a:r>
              <a:t>Bước 4: </a:t>
            </a:r>
          </a:p>
          <a:p>
            <a:pPr algn="ctr">
              <a:defRPr sz="1500" b="1">
                <a:solidFill>
                  <a:srgbClr val="1E3A8A"/>
                </a:solidFill>
                <a:latin typeface="Segoe UI" panose="020B0502040204020203"/>
              </a:defRPr>
            </a:pPr>
            <a:r>
              <a:t>Xác nhận</a:t>
            </a:r>
          </a:p>
          <a:p>
            <a:pPr>
              <a:spcBef>
                <a:spcPts val="1200"/>
              </a:spcBef>
              <a:defRPr sz="1200">
                <a:solidFill>
                  <a:srgbClr val="475569"/>
                </a:solidFill>
                <a:latin typeface="Segoe UI" panose="020B0502040204020203"/>
              </a:defRPr>
            </a:pPr>
            <a:r>
              <a:t>Sửa lại câu trả lời đúng -&gt; Xác nhận hoàn thành!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DC2626"/>
                </a:solidFill>
                <a:latin typeface="Segoe UI" panose="020B0502040204020203"/>
              </a:defRPr>
            </a:pPr>
            <a:r>
              <a:t>TRẢI NGHIỆM MỞ MỜ CÓ ĐIỀU KIỆN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latin typeface="Segoe UI" panose="020B0502040204020203"/>
              </a:defRPr>
            </a:pPr>
            <a:r>
              <a:t>4. TÍNH NĂNG ĐỘC BẢN: SELECTIVE PARAGRAPH UNBLURRING</a:t>
            </a:r>
          </a:p>
        </p:txBody>
      </p:sp>
      <p:sp>
        <p:nvSpPr>
          <p:cNvPr id="4" name="Rounded Rectangle 3"/>
          <p:cNvSpPr/>
          <p:nvPr/>
        </p:nvSpPr>
        <p:spPr>
          <a:xfrm>
            <a:off x="731520" y="1645920"/>
            <a:ext cx="512064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1E3A8A"/>
                </a:solidFill>
              </a:defRPr>
            </a:pPr>
            <a:r>
              <a:t>🔒 Bảo Vệ Nội Dung Chống Đọc Thụ Động</a:t>
            </a:r>
          </a:p>
          <a:p>
            <a:pPr>
              <a:spcBef>
                <a:spcPts val="1200"/>
              </a:spcBef>
              <a:defRPr sz="1300">
                <a:solidFill>
                  <a:srgbClr val="475569"/>
                </a:solidFill>
              </a:defRPr>
            </a:pPr>
            <a:r>
              <a:t>• Ở chế độ Tự học, toàn bộ bài giảng được tạm đóng che mờ.</a:t>
            </a:r>
            <a:br/>
            <a:br/>
            <a:r>
              <a:t>• Nhấp vào thẻ trích dẫn [Txx-NNN] khi chưa làm xong chỉ hiển thị Khung xem trước (Preview), không mở mờ tràn lan toàn trang.</a:t>
            </a:r>
            <a:br/>
            <a:br/>
            <a:r>
              <a:t>• Giữ cho học viên duy trì sự tập trung tối đa vào việc tư duy giải quyết câu hỏi.</a:t>
            </a:r>
          </a:p>
        </p:txBody>
      </p:sp>
      <p:sp>
        <p:nvSpPr>
          <p:cNvPr id="5" name="Rounded Rectangle 4"/>
          <p:cNvSpPr/>
          <p:nvPr/>
        </p:nvSpPr>
        <p:spPr>
          <a:xfrm>
            <a:off x="6309360" y="1645920"/>
            <a:ext cx="5120640" cy="4389120"/>
          </a:xfrm>
          <a:prstGeom prst="roundRect">
            <a:avLst/>
          </a:prstGeom>
          <a:solidFill>
            <a:srgbClr val="F0FDF4"/>
          </a:solidFill>
          <a:ln>
            <a:solidFill>
              <a:srgbClr val="16A34A"/>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16A34A"/>
                </a:solidFill>
              </a:defRPr>
            </a:pPr>
            <a:r>
              <a:t>🎯 Mở Mờ Riêng Đoạn Nguồn [Txx-NNN]</a:t>
            </a:r>
          </a:p>
          <a:p>
            <a:pPr>
              <a:spcBef>
                <a:spcPts val="1200"/>
              </a:spcBef>
              <a:defRPr sz="1300">
                <a:solidFill>
                  <a:srgbClr val="0F172A"/>
                </a:solidFill>
              </a:defRPr>
            </a:pPr>
            <a:r>
              <a:t>• Khi trả lời đúng Câu 1/3, hệ thống CHỈ MỞ MỜ DUY NHẤT đoạn văn trích dẫn nguồn tương ứng [T04-049].</a:t>
            </a:r>
            <a:br/>
            <a:br/>
            <a:r>
              <a:t>• Các đoạn khác của bài giảng vẫn tiếp tục che mờ cho tới khi làm hết cả 3 câu hỏi.</a:t>
            </a:r>
            <a:br/>
            <a:br/>
            <a:r>
              <a:t>• Đảm bảo tính liền mạch giữa Chẩn đoán và Bài đọc đối chiếu.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a:spAutoFit/>
          </a:bodyPr>
          <a:lstStyle/>
          <a:p>
            <a:pPr>
              <a:defRPr sz="1000" b="1">
                <a:solidFill>
                  <a:srgbClr val="DC2626"/>
                </a:solidFill>
                <a:latin typeface="Segoe UI" panose="020B0502040204020203"/>
              </a:defRPr>
            </a:pPr>
            <a:r>
              <a:t>GIÁ TRỊ SẢN PHẨM &amp; KỸ THUẬT</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latin typeface="Segoe UI" panose="020B0502040204020203"/>
              </a:defRPr>
            </a:pPr>
            <a:r>
              <a:t>5. HIỆU QUẢ GIẢNG DẠY &amp; CÔNG NGHỆ NỀN TẢNG</a:t>
            </a:r>
          </a:p>
        </p:txBody>
      </p:sp>
      <p:sp>
        <p:nvSpPr>
          <p:cNvPr id="4" name="Rounded Rectangle 3"/>
          <p:cNvSpPr/>
          <p:nvPr/>
        </p:nvSpPr>
        <p:spPr>
          <a:xfrm>
            <a:off x="731520" y="1645920"/>
            <a:ext cx="512064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1E3A8A"/>
                </a:solidFill>
              </a:defRPr>
            </a:pPr>
            <a:r>
              <a:t>Tăng 3.5x Ghi Nhớ</a:t>
            </a:r>
          </a:p>
          <a:p>
            <a:pPr>
              <a:spcBef>
                <a:spcPts val="600"/>
              </a:spcBef>
              <a:defRPr sz="1200">
                <a:solidFill>
                  <a:srgbClr val="475569"/>
                </a:solidFill>
              </a:defRPr>
            </a:pPr>
            <a:r>
              <a:t>Kích hoạt tư duy chủ động (Active Recall) qua Productive Failure thay vì đọc thụ động.</a:t>
            </a:r>
          </a:p>
        </p:txBody>
      </p:sp>
      <p:sp>
        <p:nvSpPr>
          <p:cNvPr id="5" name="Rounded Rectangle 4"/>
          <p:cNvSpPr/>
          <p:nvPr/>
        </p:nvSpPr>
        <p:spPr>
          <a:xfrm>
            <a:off x="6309360" y="1645920"/>
            <a:ext cx="512064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1E3A8A"/>
                </a:solidFill>
              </a:defRPr>
            </a:pPr>
            <a:r>
              <a:t>Tiktoken Đếm Thật</a:t>
            </a:r>
          </a:p>
          <a:p>
            <a:pPr>
              <a:spcBef>
                <a:spcPts val="600"/>
              </a:spcBef>
              <a:defRPr sz="1200">
                <a:solidFill>
                  <a:srgbClr val="475569"/>
                </a:solidFill>
              </a:defRPr>
            </a:pPr>
            <a:r>
              <a:t>Tích hợp công nghệ nén mã hóa o200k_base (GPT-4o) tính toán chính xác 100% số token.</a:t>
            </a:r>
          </a:p>
        </p:txBody>
      </p:sp>
      <p:sp>
        <p:nvSpPr>
          <p:cNvPr id="6" name="Rounded Rectangle 5"/>
          <p:cNvSpPr/>
          <p:nvPr/>
        </p:nvSpPr>
        <p:spPr>
          <a:xfrm>
            <a:off x="731520" y="3977639"/>
            <a:ext cx="512064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1E3A8A"/>
                </a:solidFill>
              </a:defRPr>
            </a:pPr>
            <a:r>
              <a:rPr lang="en-US"/>
              <a:t>6</a:t>
            </a:r>
            <a:r>
              <a:t> Bài Học vlearn-pack</a:t>
            </a:r>
          </a:p>
          <a:p>
            <a:pPr>
              <a:spcBef>
                <a:spcPts val="600"/>
              </a:spcBef>
              <a:defRPr sz="1200">
                <a:solidFill>
                  <a:srgbClr val="475569"/>
                </a:solidFill>
              </a:defRPr>
            </a:pPr>
            <a:r>
              <a:t>Tích hợp toàn bộ dữ liệu transcript sạch từ Bài 1 đến Bài 6 phân theo 3 Module chuyên sâu.</a:t>
            </a:r>
          </a:p>
        </p:txBody>
      </p:sp>
      <p:sp>
        <p:nvSpPr>
          <p:cNvPr id="7" name="Rounded Rectangle 6"/>
          <p:cNvSpPr/>
          <p:nvPr/>
        </p:nvSpPr>
        <p:spPr>
          <a:xfrm>
            <a:off x="6309360" y="3977639"/>
            <a:ext cx="512064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1E3A8A"/>
                </a:solidFill>
              </a:defRPr>
            </a:pPr>
            <a:r>
              <a:t> Thiết Kế Chuẩn VLearn UI</a:t>
            </a:r>
          </a:p>
          <a:p>
            <a:pPr>
              <a:spcBef>
                <a:spcPts val="600"/>
              </a:spcBef>
              <a:defRPr sz="1200">
                <a:solidFill>
                  <a:srgbClr val="475569"/>
                </a:solidFill>
              </a:defRPr>
            </a:pPr>
            <a:r>
              <a:t>Giao diện hiện đại, tối ưu trải nghiệm học tập tự nhiên và thân thiện người dùng.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p:sp>
        <p:nvSpPr>
          <p:cNvPr id="2" name="TextBox 1"/>
          <p:cNvSpPr txBox="1"/>
          <p:nvPr/>
        </p:nvSpPr>
        <p:spPr>
          <a:xfrm>
            <a:off x="914400" y="1645920"/>
            <a:ext cx="10360152" cy="1371600"/>
          </a:xfrm>
          <a:prstGeom prst="rect">
            <a:avLst/>
          </a:prstGeom>
          <a:noFill/>
        </p:spPr>
        <p:txBody>
          <a:bodyPr wrap="square">
            <a:spAutoFit/>
          </a:bodyPr>
          <a:lstStyle/>
          <a:p>
            <a:pPr>
              <a:defRPr sz="3600" b="1">
                <a:solidFill>
                  <a:srgbClr val="FFFFFF"/>
                </a:solidFill>
                <a:latin typeface="Segoe UI" panose="020B0502040204020203"/>
              </a:defRPr>
            </a:pPr>
            <a:r>
              <a:t>VLearn — ĐỔI MỚI HỌC TẬP CÙNG AI TUTOR</a:t>
            </a:r>
          </a:p>
          <a:p>
            <a:pPr>
              <a:spcBef>
                <a:spcPts val="1200"/>
              </a:spcBef>
              <a:defRPr sz="1800">
                <a:solidFill>
                  <a:srgbClr val="BAE6FD"/>
                </a:solidFill>
              </a:defRPr>
            </a:pPr>
            <a:r>
              <a:t>Cảm ơn bạn đã lắng nghe bài thuyết trình của nhóm chúng tôi!</a:t>
            </a:r>
          </a:p>
        </p:txBody>
      </p:sp>
      <p:sp>
        <p:nvSpPr>
          <p:cNvPr id="3" name="Rounded Rectangle 2"/>
          <p:cNvSpPr/>
          <p:nvPr/>
        </p:nvSpPr>
        <p:spPr>
          <a:xfrm>
            <a:off x="914400" y="3657600"/>
            <a:ext cx="10360152" cy="2011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457200" tIns="365760" rtlCol="0" anchor="ctr"/>
          <a:lstStyle/>
          <a:p>
            <a:pPr algn="ctr">
              <a:defRPr sz="1600" b="1">
                <a:solidFill>
                  <a:srgbClr val="DC2626"/>
                </a:solidFill>
              </a:defRPr>
            </a:pPr>
            <a:r>
              <a:t>TRẢI NGHIỆM SẢN PHẨM VLEARN DEMO TRỰC TIẾP:</a:t>
            </a:r>
          </a:p>
          <a:p>
            <a:pPr>
              <a:spcBef>
                <a:spcPts val="1000"/>
              </a:spcBef>
              <a:defRPr sz="1500" b="1">
                <a:solidFill>
                  <a:srgbClr val="1E3A8A"/>
                </a:solidFill>
              </a:defRPr>
            </a:pPr>
            <a:r>
              <a:t>• Link Demo Server: </a:t>
            </a:r>
            <a:r>
              <a:rPr lang="en-US" altLang="en-US"/>
              <a:t>https://vlearn.nova.io.vn/</a:t>
            </a:r>
            <a:br/>
            <a:r>
              <a:t>• GitHub Repository: https://github.com/tungdaisy7it/K4-3A-E402-Aura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2983</Words>
  <Application>WPS Presentation</Application>
  <PresentationFormat>On-screen Show (4:3)</PresentationFormat>
  <Paragraphs>87</Paragraphs>
  <Slides>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Arial</vt:lpstr>
      <vt:lpstr>SimSun</vt:lpstr>
      <vt:lpstr>Wingdings</vt:lpstr>
      <vt:lpstr>Arial</vt:lpstr>
      <vt:lpstr>Segoe UI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Nguyễn Thu Hằng</cp:lastModifiedBy>
  <cp:revision>2</cp:revision>
  <dcterms:created xsi:type="dcterms:W3CDTF">2013-01-27T09:14:00Z</dcterms:created>
  <dcterms:modified xsi:type="dcterms:W3CDTF">2026-09-18T10:53:53Z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EF4B8A7475E5466589647C4577A455E2_12</vt:lpwstr>
  </property>
  <property fmtid="{D5CDD505-2E9C-101B-9397-08002B2CF9AE}" pid="3" name="KSOProductBuildVer">
    <vt:lpwstr>1033-12.1.0.28485</vt:lpwstr>
  </property>
</Properties>
</file>